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ADBB2-07DA-F20C-BB84-7B8EF8CC3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BF7B37-3573-E50D-0812-41B7DAE4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8C22E3-B613-7322-5EEA-CF02EDBC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5EBB37-B3B6-8C58-CAC7-120B0E5E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C37016-BE74-ABCF-D89F-1C3F4C20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795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FE568-FADA-1088-CAC0-1BB6386E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841F02-0278-EE5A-55E0-E0D43B57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50873B-2441-2D3D-BCD5-1D04CA44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473F3D-8B90-6C59-971A-BA70A80B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B795EA-726F-26DB-6AC1-05E85998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916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672A4A-775C-4BAF-BD8B-43E3DEA89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C0C95D-39E0-1FF5-EE75-F41717A41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FA7A0A-2E8F-5436-B166-492DB79A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20BD26-D92C-FF16-586C-70D6D618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1C6030-7554-09F1-D56F-69B82C76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625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D6743-86CA-7ECF-9E5F-A907A523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840F28-6D82-FAEB-0B08-394AF46DC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4429B7-1860-7575-7073-0E66C8BDD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01E13A-E5A2-C331-E2D6-A7DDDC6F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073EB1-C8BD-1544-D94A-2D84D671C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45049B-7238-AC63-76E9-703F785B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16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EE095B-AD1D-B4E0-B609-9B844134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2C7C17-3082-62B8-AE93-09A4862F9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2B2956-50BA-56E6-5D10-4FF1C536B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2A00EA-9C1E-416A-4DF6-8933BC9F5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676D4DB-9964-4F45-6332-368569048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40A0B24-12F5-6DB8-11C8-5F84C99F1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1F1E3F-9884-BA0D-D811-43E85530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15247D1-599C-A450-6194-BF64B1CA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39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92ECA-BABE-1A56-D0C5-3EE80127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188FC8-E256-48EC-6002-5602F73C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D86B3B4-FB62-4894-D5B6-DF225AFF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E74D8A-A147-9FFF-ECFB-8F161471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86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2A086A-F35F-C490-A580-96200A47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85F439-3CEB-557C-943C-7F4BF604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B6FECF-15F4-B4D0-8B10-6BFF9988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1386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AEB72-5F18-4944-076A-7EB01BAC8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1419D7-9E69-7651-7F82-C48FCF0DC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25E1EF-51DB-F2DC-1DC9-594E901FE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61D04F-2E3E-A5FE-D863-73B24EDD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FE80AD-1E55-3A31-C2FC-F4BAF7B5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60F4B9-2ACD-4E8E-7971-7D2439DF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33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8703A-057D-BC03-1944-B46E1EDC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BAD8CF-DA68-AF35-96BE-9A678D0AAF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0FF8C7-80C3-3951-056F-C15EC0502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08CDC4-4187-818F-926F-06EA6DC7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F4F860-726F-F6AA-35A2-A8D8EF83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18E6790-5BBB-5E51-B850-86E42818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97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5CB12E-2772-423B-8925-90A19CEC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55F23F-3970-3D6A-19CA-6D0D11525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0B202E-B79C-5F10-216D-59CF8329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54478B-49BC-9D88-C0C5-A3DA32018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381625-BA1E-A903-89DE-018D8E6F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61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EA22C6-53A8-4279-6A9A-AA7A71FD5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C52210-A278-4741-7D50-4BD21C588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BA743F-1641-3CA6-9828-2AAB8A21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F02E4-4956-7C86-8700-8C4CF996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D6EBF9-1AFE-1D68-4B56-18EC779D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7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D556A-0F0A-E8D1-9482-801310A72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D48133-6C0D-97D2-ABE1-CB6D54FB5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B6F901-5502-C5D1-31B8-0F34F509C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B55E6-3BDF-4776-ABF0-88DDB504B92A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6AE94E-345D-6C26-F13F-E01B5FBDB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E18DE0-AC27-6494-D40A-4ED69D8BE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F76CF-1D2A-467D-8A8E-9467456661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2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FCD22-1EDE-471F-56F9-F08CD9B38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GoTransition</a:t>
            </a:r>
            <a:r>
              <a:rPr lang="ru-RU" b="1" dirty="0"/>
              <a:t> Kit: Быстрая миграция программных модулей на </a:t>
            </a:r>
            <a:r>
              <a:rPr lang="ru-RU" b="1" dirty="0" err="1"/>
              <a:t>Golang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A6EF1A3-1C07-639B-5441-FE222B6FF9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Кротов БПИ 23-1</a:t>
            </a:r>
          </a:p>
        </p:txBody>
      </p:sp>
    </p:spTree>
    <p:extLst>
      <p:ext uri="{BB962C8B-B14F-4D97-AF65-F5344CB8AC3E}">
        <p14:creationId xmlns:p14="http://schemas.microsoft.com/office/powerpoint/2010/main" val="177553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F2A7E-AECF-526A-91AF-5E558B36F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GoTransition</a:t>
            </a:r>
            <a:r>
              <a:rPr lang="en-US" dirty="0"/>
              <a:t> Kit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33AFA7-7804-A9F4-506D-25CF41A58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Комплект методических материалов для высокоскоростной миграции программных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043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4133F-D54F-9DBF-F8CC-397E01D5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Executive summary (</a:t>
            </a:r>
            <a:r>
              <a:rPr lang="ru-RU" b="1" dirty="0"/>
              <a:t>Краткий обзор)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F22552-95BC-8892-C85B-D9A5674BB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Проблема:</a:t>
            </a:r>
            <a:r>
              <a:rPr lang="ru-RU" dirty="0"/>
              <a:t> Компании теряют деньги из-за низкой производительности легаси-кода, а процесс миграции на новые технологии занимает месяцы и останавливает разработку</a:t>
            </a:r>
          </a:p>
          <a:p>
            <a:r>
              <a:rPr lang="ru-RU" b="1" dirty="0"/>
              <a:t>Решение:</a:t>
            </a:r>
            <a:r>
              <a:rPr lang="ru-RU" dirty="0"/>
              <a:t> </a:t>
            </a:r>
            <a:r>
              <a:rPr lang="ru-RU" dirty="0" err="1"/>
              <a:t>GoTransition</a:t>
            </a:r>
            <a:r>
              <a:rPr lang="ru-RU" dirty="0"/>
              <a:t> Kit — это готовая методология для поэтапной замены модулей на </a:t>
            </a:r>
            <a:r>
              <a:rPr lang="ru-RU" dirty="0" err="1"/>
              <a:t>Golang</a:t>
            </a:r>
            <a:r>
              <a:rPr lang="ru-RU" dirty="0"/>
              <a:t> без остановки продакшена</a:t>
            </a:r>
          </a:p>
          <a:p>
            <a:r>
              <a:rPr lang="ru-RU" b="1" dirty="0"/>
              <a:t>Результат:</a:t>
            </a:r>
            <a:r>
              <a:rPr lang="ru-RU" dirty="0"/>
              <a:t> Сокращение времени миграции в 2-3 раза, повышение производительности сервисов, сохранение темпа разработки фич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780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20F0C-6454-641D-3C8C-584AD770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r>
              <a:rPr lang="ru-RU" b="1" dirty="0"/>
              <a:t>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820BBB-C0C7-BD87-BE5E-18A485917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Почему компании не могут перейти на Go прямо сейчас?</a:t>
            </a:r>
          </a:p>
          <a:p>
            <a:pPr lvl="1"/>
            <a:r>
              <a:rPr lang="ru-RU" dirty="0"/>
              <a:t>Страх остановки разработки — "Пока перепишем, конкуренты уйдут вперед"</a:t>
            </a:r>
          </a:p>
          <a:p>
            <a:pPr lvl="1"/>
            <a:r>
              <a:rPr lang="ru-RU" dirty="0"/>
              <a:t>Непонимание с чего начать — "Переписывать всё сразу или по частям?"</a:t>
            </a:r>
          </a:p>
          <a:p>
            <a:pPr lvl="1"/>
            <a:r>
              <a:rPr lang="ru-RU" dirty="0"/>
              <a:t>Риски регрессии — "Новый код может работать хуже старого"</a:t>
            </a:r>
          </a:p>
          <a:p>
            <a:pPr lvl="1"/>
            <a:r>
              <a:rPr lang="ru-RU" dirty="0"/>
              <a:t>Отсутствие экспертизы — "Команда не знает идиом Go и пишет "</a:t>
            </a:r>
            <a:r>
              <a:rPr lang="ru-RU" dirty="0" err="1"/>
              <a:t>по-питоньи</a:t>
            </a:r>
            <a:r>
              <a:rPr lang="ru-RU" dirty="0"/>
              <a:t>" медленно"</a:t>
            </a:r>
          </a:p>
          <a:p>
            <a:pPr lvl="1"/>
            <a:r>
              <a:rPr lang="ru-RU" dirty="0"/>
              <a:t>Долгий ROI — "Непонятно, когда миграция окупится"</a:t>
            </a:r>
          </a:p>
        </p:txBody>
      </p:sp>
    </p:spTree>
    <p:extLst>
      <p:ext uri="{BB962C8B-B14F-4D97-AF65-F5344CB8AC3E}">
        <p14:creationId xmlns:p14="http://schemas.microsoft.com/office/powerpoint/2010/main" val="50372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6393E-6D8B-63A6-D6D1-0F2EC9B2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Target market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90372-8D1F-4B59-23A1-9D8BFA25A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Кому нужен </a:t>
            </a:r>
            <a:r>
              <a:rPr lang="en-US" dirty="0" err="1"/>
              <a:t>GoTransition</a:t>
            </a:r>
            <a:r>
              <a:rPr lang="en-US" dirty="0"/>
              <a:t> Kit?</a:t>
            </a:r>
            <a:endParaRPr lang="ru-RU" dirty="0"/>
          </a:p>
          <a:p>
            <a:pPr lvl="1"/>
            <a:r>
              <a:rPr lang="ru-RU" b="1" dirty="0"/>
              <a:t>Сегменты рынка:</a:t>
            </a:r>
            <a:endParaRPr lang="ru-RU" dirty="0"/>
          </a:p>
          <a:p>
            <a:pPr lvl="2"/>
            <a:r>
              <a:rPr lang="ru-RU" dirty="0"/>
              <a:t>🏢 </a:t>
            </a:r>
            <a:r>
              <a:rPr lang="ru-RU" b="1" dirty="0"/>
              <a:t>Продуктовые компании</a:t>
            </a:r>
            <a:r>
              <a:rPr lang="ru-RU" dirty="0"/>
              <a:t> (e-</a:t>
            </a:r>
            <a:r>
              <a:rPr lang="ru-RU" dirty="0" err="1"/>
              <a:t>commerce</a:t>
            </a:r>
            <a:r>
              <a:rPr lang="ru-RU" dirty="0"/>
              <a:t>, финтех, маркетплейсы) с высоконагруженными проектами на Python/</a:t>
            </a:r>
            <a:r>
              <a:rPr lang="ru-RU" dirty="0" err="1"/>
              <a:t>Django</a:t>
            </a:r>
            <a:r>
              <a:rPr lang="ru-RU" dirty="0"/>
              <a:t>, Ruby </a:t>
            </a:r>
            <a:r>
              <a:rPr lang="ru-RU" dirty="0" err="1"/>
              <a:t>on</a:t>
            </a:r>
            <a:r>
              <a:rPr lang="ru-RU" dirty="0"/>
              <a:t> </a:t>
            </a:r>
            <a:r>
              <a:rPr lang="ru-RU" dirty="0" err="1"/>
              <a:t>Rails</a:t>
            </a:r>
            <a:r>
              <a:rPr lang="ru-RU" dirty="0"/>
              <a:t> или Java</a:t>
            </a:r>
          </a:p>
          <a:p>
            <a:pPr lvl="2"/>
            <a:r>
              <a:rPr lang="ru-RU" dirty="0"/>
              <a:t>🏭 </a:t>
            </a:r>
            <a:r>
              <a:rPr lang="ru-RU" b="1" dirty="0"/>
              <a:t>Enterprise-сектор</a:t>
            </a:r>
            <a:r>
              <a:rPr lang="ru-RU" dirty="0"/>
              <a:t> с легаси-монолитами, которые требуют модернизации</a:t>
            </a:r>
          </a:p>
          <a:p>
            <a:pPr lvl="2"/>
            <a:r>
              <a:rPr lang="ru-RU" dirty="0"/>
              <a:t>🚀 </a:t>
            </a:r>
            <a:r>
              <a:rPr lang="ru-RU" b="1" dirty="0"/>
              <a:t>Стартапы на стадии роста</a:t>
            </a:r>
            <a:r>
              <a:rPr lang="ru-RU" dirty="0"/>
              <a:t>, где производительность становится критичной</a:t>
            </a:r>
          </a:p>
          <a:p>
            <a:pPr lvl="1"/>
            <a:r>
              <a:rPr lang="ru-RU" b="1" dirty="0"/>
              <a:t>Размер рынка:</a:t>
            </a:r>
            <a:endParaRPr lang="ru-RU" dirty="0"/>
          </a:p>
          <a:p>
            <a:pPr lvl="2"/>
            <a:r>
              <a:rPr lang="ru-RU" dirty="0"/>
              <a:t>Рост спроса на Go: +35% вакансий за последний год</a:t>
            </a:r>
          </a:p>
          <a:p>
            <a:pPr lvl="2"/>
            <a:r>
              <a:rPr lang="ru-RU" dirty="0"/>
              <a:t>Более 60% компаний с бэкендом на Python/Java рассматривают переход на Go для высоконагруженных узлов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335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B3E8E-0EF6-AE04-6AC5-591B6D04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Buyer personas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8F0ED9-8AC5-9C94-D2B6-DF3592314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Кто наш пользователь?</a:t>
            </a:r>
          </a:p>
          <a:p>
            <a:pPr lvl="1"/>
            <a:r>
              <a:rPr lang="ru-RU" b="1" dirty="0"/>
              <a:t>Персона 1: Алексей, CTO (45 лет)</a:t>
            </a:r>
            <a:endParaRPr lang="ru-RU" dirty="0"/>
          </a:p>
          <a:p>
            <a:pPr lvl="2"/>
            <a:r>
              <a:rPr lang="ru-RU" b="1" dirty="0"/>
              <a:t>Боли:</a:t>
            </a:r>
            <a:r>
              <a:rPr lang="ru-RU" dirty="0"/>
              <a:t> Сервера не выдерживают пиковых нагрузок, наем Go-разработчиков дорогой и долгий.</a:t>
            </a:r>
          </a:p>
          <a:p>
            <a:pPr lvl="2"/>
            <a:r>
              <a:rPr lang="ru-RU" b="1" dirty="0"/>
              <a:t>Цель:</a:t>
            </a:r>
            <a:r>
              <a:rPr lang="ru-RU" dirty="0"/>
              <a:t> Перевести критичные сервисы на Go силами текущей команды за 3 месяца.</a:t>
            </a:r>
          </a:p>
          <a:p>
            <a:pPr lvl="2"/>
            <a:r>
              <a:rPr lang="ru-RU" b="1" dirty="0"/>
              <a:t>Сценарий:</a:t>
            </a:r>
            <a:r>
              <a:rPr lang="ru-RU" dirty="0"/>
              <a:t> Ищет готовые решения для </a:t>
            </a:r>
            <a:r>
              <a:rPr lang="ru-RU" dirty="0" err="1"/>
              <a:t>upskilling</a:t>
            </a:r>
            <a:r>
              <a:rPr lang="ru-RU" dirty="0"/>
              <a:t> команды и безопасной миграции.</a:t>
            </a:r>
          </a:p>
          <a:p>
            <a:pPr lvl="1"/>
            <a:r>
              <a:rPr lang="ru-RU" b="1" dirty="0"/>
              <a:t>Персона 2: Елена, Tech </a:t>
            </a:r>
            <a:r>
              <a:rPr lang="ru-RU" b="1" dirty="0" err="1"/>
              <a:t>Lead</a:t>
            </a:r>
            <a:r>
              <a:rPr lang="ru-RU" b="1" dirty="0"/>
              <a:t> (32 года)</a:t>
            </a:r>
            <a:endParaRPr lang="ru-RU" dirty="0"/>
          </a:p>
          <a:p>
            <a:pPr lvl="2"/>
            <a:r>
              <a:rPr lang="ru-RU" b="1" dirty="0"/>
              <a:t>Боли:</a:t>
            </a:r>
            <a:r>
              <a:rPr lang="ru-RU" dirty="0"/>
              <a:t> Команда пишет неэффективный код, на ревью уходит много времени.</a:t>
            </a:r>
          </a:p>
          <a:p>
            <a:pPr lvl="2"/>
            <a:r>
              <a:rPr lang="ru-RU" b="1" dirty="0"/>
              <a:t>Цель:</a:t>
            </a:r>
            <a:r>
              <a:rPr lang="ru-RU" dirty="0"/>
              <a:t> Внедрить Go в новый микросервис, чтобы показать руководству профит.</a:t>
            </a:r>
          </a:p>
          <a:p>
            <a:pPr lvl="2"/>
            <a:r>
              <a:rPr lang="ru-RU" b="1" dirty="0"/>
              <a:t>Сценарий:</a:t>
            </a:r>
            <a:r>
              <a:rPr lang="ru-RU" dirty="0"/>
              <a:t> Нужны четкие гайдлайны и 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practices</a:t>
            </a:r>
            <a:r>
              <a:rPr lang="ru-RU" dirty="0"/>
              <a:t> для быстрого старта.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3644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0E7FE-F9E4-2270-73DE-A8561F6F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objectives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9A874A-A13E-D887-A756-59A4BC8C0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Что мы хотим достичь?</a:t>
            </a:r>
          </a:p>
          <a:p>
            <a:pPr lvl="1"/>
            <a:r>
              <a:rPr lang="ru-RU" dirty="0"/>
              <a:t>Стратегические цели:</a:t>
            </a:r>
          </a:p>
          <a:p>
            <a:pPr lvl="2"/>
            <a:r>
              <a:rPr lang="ru-RU" dirty="0"/>
              <a:t>Стать стандартом де-факто для миграции на Go в русскоязычном сообществе</a:t>
            </a:r>
          </a:p>
          <a:p>
            <a:pPr lvl="2"/>
            <a:r>
              <a:rPr lang="ru-RU" dirty="0"/>
              <a:t>Сократить время внедрения Go в компаниях с 6 месяцев до 1-2 месяцев</a:t>
            </a:r>
          </a:p>
          <a:p>
            <a:pPr lvl="1"/>
            <a:r>
              <a:rPr lang="ru-RU" dirty="0"/>
              <a:t>Измеримые цели (KPI):</a:t>
            </a:r>
          </a:p>
          <a:p>
            <a:pPr lvl="2"/>
            <a:r>
              <a:rPr lang="ru-RU" dirty="0"/>
              <a:t>Охват: 20 пилотных внедрений в первый год</a:t>
            </a:r>
          </a:p>
          <a:p>
            <a:pPr lvl="2"/>
            <a:r>
              <a:rPr lang="ru-RU" dirty="0"/>
              <a:t>Эффективность: Снижение времени миграции модуля на 40% у пользователей методички</a:t>
            </a:r>
          </a:p>
          <a:p>
            <a:pPr lvl="2"/>
            <a:r>
              <a:rPr lang="ru-RU" dirty="0"/>
              <a:t>Удовлетворенность: NPS среди команд-пользователей не ниже 8/10</a:t>
            </a:r>
          </a:p>
        </p:txBody>
      </p:sp>
    </p:spTree>
    <p:extLst>
      <p:ext uri="{BB962C8B-B14F-4D97-AF65-F5344CB8AC3E}">
        <p14:creationId xmlns:p14="http://schemas.microsoft.com/office/powerpoint/2010/main" val="110096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A33429-4A86-8348-3125-B4191E2A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Competitor analysis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10C450-A665-FABB-A310-BAF6FB82B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026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7CE8A1-F299-45F6-7DFF-3531EBD6B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Product overview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CC31D3-D2D2-374B-DA5E-CA202277D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Что внутри </a:t>
            </a:r>
            <a:r>
              <a:rPr lang="en-US" b="0" dirty="0" err="1"/>
              <a:t>GoTransition</a:t>
            </a:r>
            <a:r>
              <a:rPr lang="en-US" b="0" dirty="0"/>
              <a:t> Kit?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413DAA-101C-8B39-F119-1956E1E019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Структура методических материалов:</a:t>
            </a:r>
          </a:p>
          <a:p>
            <a:r>
              <a:rPr lang="ru-RU" dirty="0"/>
              <a:t>Модуль оценки (</a:t>
            </a:r>
            <a:r>
              <a:rPr lang="en-US" dirty="0"/>
              <a:t>Assessment)</a:t>
            </a:r>
          </a:p>
          <a:p>
            <a:pPr lvl="1"/>
            <a:r>
              <a:rPr lang="ru-RU" dirty="0"/>
              <a:t>Чек-лист для аудита текущей архитектуры</a:t>
            </a:r>
          </a:p>
          <a:p>
            <a:pPr lvl="1"/>
            <a:r>
              <a:rPr lang="ru-RU" dirty="0"/>
              <a:t>Калькулятор </a:t>
            </a:r>
            <a:r>
              <a:rPr lang="en-US" dirty="0"/>
              <a:t>ROI </a:t>
            </a:r>
            <a:r>
              <a:rPr lang="ru-RU" dirty="0"/>
              <a:t>для выбора модуля под миграцию</a:t>
            </a:r>
          </a:p>
          <a:p>
            <a:r>
              <a:rPr lang="ru-RU" dirty="0"/>
              <a:t>Стратегии миграции (</a:t>
            </a:r>
            <a:r>
              <a:rPr lang="en-US" dirty="0"/>
              <a:t>Migration patterns)</a:t>
            </a:r>
          </a:p>
          <a:p>
            <a:pPr lvl="1"/>
            <a:r>
              <a:rPr lang="en-US" dirty="0"/>
              <a:t>Strangler Pattern (</a:t>
            </a:r>
            <a:r>
              <a:rPr lang="ru-RU" dirty="0"/>
              <a:t>пошаговое "удушение" монолита)</a:t>
            </a:r>
          </a:p>
          <a:p>
            <a:pPr lvl="1"/>
            <a:r>
              <a:rPr lang="en-US" dirty="0"/>
              <a:t>Anti-Corruption Layer (</a:t>
            </a:r>
            <a:r>
              <a:rPr lang="ru-RU" dirty="0"/>
              <a:t>защита от "грязных" данных)</a:t>
            </a:r>
          </a:p>
          <a:p>
            <a:pPr lvl="1"/>
            <a:r>
              <a:rPr lang="en-US" dirty="0"/>
              <a:t>Blue-Green deployment </a:t>
            </a:r>
            <a:r>
              <a:rPr lang="ru-RU" dirty="0"/>
              <a:t>для </a:t>
            </a:r>
            <a:r>
              <a:rPr lang="en-US" dirty="0"/>
              <a:t>Go-</a:t>
            </a:r>
            <a:r>
              <a:rPr lang="ru-RU" dirty="0"/>
              <a:t>сервисов</a:t>
            </a:r>
          </a:p>
          <a:p>
            <a:r>
              <a:rPr lang="ru-RU" dirty="0"/>
              <a:t> Шаблоны кода и инфраструктуры</a:t>
            </a:r>
          </a:p>
          <a:p>
            <a:pPr lvl="1"/>
            <a:r>
              <a:rPr lang="en-US" dirty="0"/>
              <a:t>CI/CD </a:t>
            </a:r>
            <a:r>
              <a:rPr lang="ru-RU" dirty="0" err="1"/>
              <a:t>пайплайны</a:t>
            </a:r>
            <a:r>
              <a:rPr lang="ru-RU" dirty="0"/>
              <a:t> (</a:t>
            </a:r>
            <a:r>
              <a:rPr lang="en-US" dirty="0"/>
              <a:t>GitHub Actions, GitLab CI)</a:t>
            </a:r>
          </a:p>
          <a:p>
            <a:pPr lvl="1"/>
            <a:r>
              <a:rPr lang="en-US" dirty="0" err="1"/>
              <a:t>Dockerfile</a:t>
            </a:r>
            <a:r>
              <a:rPr lang="en-US" dirty="0"/>
              <a:t> </a:t>
            </a:r>
            <a:r>
              <a:rPr lang="ru-RU" dirty="0"/>
              <a:t>с оптимизацией под </a:t>
            </a:r>
            <a:r>
              <a:rPr lang="en-US" dirty="0"/>
              <a:t>Go</a:t>
            </a:r>
          </a:p>
          <a:p>
            <a:pPr lvl="1"/>
            <a:r>
              <a:rPr lang="ru-RU" dirty="0"/>
              <a:t>Интеграция с </a:t>
            </a:r>
            <a:r>
              <a:rPr lang="en-US" dirty="0"/>
              <a:t>observability-</a:t>
            </a:r>
            <a:r>
              <a:rPr lang="ru-RU" dirty="0"/>
              <a:t>стеками (</a:t>
            </a:r>
            <a:r>
              <a:rPr lang="en-US" dirty="0"/>
              <a:t>Prometheus, Grafana)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D74E2C-4672-AA81-D66B-CF137BE89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D8B8D13-268C-74E3-2251-377A170D300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Чек-листы</a:t>
            </a:r>
            <a:endParaRPr lang="ru-RU" dirty="0"/>
          </a:p>
          <a:p>
            <a:pPr lvl="1"/>
            <a:r>
              <a:rPr lang="ru-RU" b="1" dirty="0"/>
              <a:t>✅  </a:t>
            </a:r>
            <a:r>
              <a:rPr lang="en-US" dirty="0"/>
              <a:t>Pre-migration: </a:t>
            </a:r>
            <a:r>
              <a:rPr lang="ru-RU" dirty="0"/>
              <a:t>что проверить до старта</a:t>
            </a:r>
          </a:p>
          <a:p>
            <a:pPr lvl="1"/>
            <a:r>
              <a:rPr lang="ru-RU" b="1" dirty="0"/>
              <a:t>✅  </a:t>
            </a:r>
            <a:r>
              <a:rPr lang="en-US" dirty="0"/>
              <a:t>Post-migration: </a:t>
            </a:r>
            <a:r>
              <a:rPr lang="ru-RU" dirty="0"/>
              <a:t>как убедиться, что всё работает</a:t>
            </a:r>
          </a:p>
          <a:p>
            <a:r>
              <a:rPr lang="ru-RU" b="1" dirty="0"/>
              <a:t> </a:t>
            </a:r>
            <a:r>
              <a:rPr lang="en-US" b="1" dirty="0"/>
              <a:t>Best Practices </a:t>
            </a:r>
            <a:r>
              <a:rPr lang="ru-RU" b="1" dirty="0"/>
              <a:t>для "перебежчиков"</a:t>
            </a:r>
            <a:endParaRPr lang="ru-RU" dirty="0"/>
          </a:p>
          <a:p>
            <a:pPr lvl="1"/>
            <a:r>
              <a:rPr lang="ru-RU" dirty="0"/>
              <a:t>Из </a:t>
            </a:r>
            <a:r>
              <a:rPr lang="en-US" dirty="0"/>
              <a:t>Python </a:t>
            </a:r>
            <a:r>
              <a:rPr lang="ru-RU" dirty="0"/>
              <a:t>в </a:t>
            </a:r>
            <a:r>
              <a:rPr lang="en-US" dirty="0"/>
              <a:t>Go: </a:t>
            </a:r>
            <a:r>
              <a:rPr lang="ru-RU" dirty="0"/>
              <a:t>что менять в мышлении</a:t>
            </a:r>
          </a:p>
          <a:p>
            <a:pPr lvl="1"/>
            <a:r>
              <a:rPr lang="ru-RU" dirty="0"/>
              <a:t>Из </a:t>
            </a:r>
            <a:r>
              <a:rPr lang="en-US" dirty="0"/>
              <a:t>Java </a:t>
            </a:r>
            <a:r>
              <a:rPr lang="ru-RU" dirty="0"/>
              <a:t>в </a:t>
            </a:r>
            <a:r>
              <a:rPr lang="en-US" dirty="0"/>
              <a:t>Go: </a:t>
            </a:r>
            <a:r>
              <a:rPr lang="ru-RU" dirty="0"/>
              <a:t>упрощаем архитектуру</a:t>
            </a:r>
            <a:br>
              <a:rPr lang="ru-RU" dirty="0"/>
            </a:br>
            <a:r>
              <a:rPr lang="ru-RU" dirty="0"/>
              <a:t>Из </a:t>
            </a:r>
            <a:r>
              <a:rPr lang="en-US" dirty="0"/>
              <a:t>C# </a:t>
            </a:r>
            <a:r>
              <a:rPr lang="ru-RU" dirty="0"/>
              <a:t>в </a:t>
            </a:r>
            <a:r>
              <a:rPr lang="en-US" dirty="0"/>
              <a:t>Go: </a:t>
            </a:r>
            <a:r>
              <a:rPr lang="ru-RU" dirty="0"/>
              <a:t>решаем архитектурные проблемы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13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F40D3-F66D-D5ED-21A3-87FC2FEF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56518-108E-9C60-7A5E-F3818DEB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Step 1: Аудит</a:t>
            </a:r>
            <a:endParaRPr lang="ru-RU" dirty="0"/>
          </a:p>
          <a:p>
            <a:pPr lvl="1"/>
            <a:r>
              <a:rPr lang="ru-RU" dirty="0"/>
              <a:t>Оцениваем все модули по шкале "выгода/сложность"</a:t>
            </a:r>
          </a:p>
          <a:p>
            <a:pPr lvl="1"/>
            <a:r>
              <a:rPr lang="ru-RU" dirty="0"/>
              <a:t>Выбираем кандидата для первой миграции (быстрая победа)</a:t>
            </a:r>
          </a:p>
          <a:p>
            <a:r>
              <a:rPr lang="ru-RU" b="1" dirty="0"/>
              <a:t>Step 2: Изоляция</a:t>
            </a:r>
            <a:endParaRPr lang="ru-RU" dirty="0"/>
          </a:p>
          <a:p>
            <a:pPr lvl="1"/>
            <a:r>
              <a:rPr lang="ru-RU" dirty="0"/>
              <a:t>Определяем границы модуля</a:t>
            </a:r>
          </a:p>
          <a:p>
            <a:pPr lvl="1"/>
            <a:r>
              <a:rPr lang="ru-RU" dirty="0"/>
              <a:t>Настраиваем прокси-слой для </a:t>
            </a:r>
            <a:r>
              <a:rPr lang="ru-RU" dirty="0" err="1"/>
              <a:t>роутинга</a:t>
            </a:r>
            <a:r>
              <a:rPr lang="ru-RU" dirty="0"/>
              <a:t> трафика</a:t>
            </a:r>
          </a:p>
          <a:p>
            <a:r>
              <a:rPr lang="ru-RU" b="1" dirty="0"/>
              <a:t>Step 3: Разработка</a:t>
            </a:r>
            <a:endParaRPr lang="ru-RU" dirty="0"/>
          </a:p>
          <a:p>
            <a:pPr lvl="1"/>
            <a:r>
              <a:rPr lang="ru-RU" dirty="0"/>
              <a:t>Используем готовые шаблоны из репозитория</a:t>
            </a:r>
          </a:p>
          <a:p>
            <a:pPr lvl="1"/>
            <a:r>
              <a:rPr lang="ru-RU" dirty="0"/>
              <a:t>Пишем тесты и бенчмарки</a:t>
            </a:r>
          </a:p>
          <a:p>
            <a:r>
              <a:rPr lang="ru-RU" b="1" dirty="0"/>
              <a:t>Step 4: Постепенный </a:t>
            </a:r>
            <a:r>
              <a:rPr lang="ru-RU" b="1" dirty="0" err="1"/>
              <a:t>rollout</a:t>
            </a:r>
            <a:endParaRPr lang="ru-RU" dirty="0"/>
          </a:p>
          <a:p>
            <a:pPr lvl="1"/>
            <a:r>
              <a:rPr lang="ru-RU" dirty="0"/>
              <a:t>Запускаем Go-сервис параллельно со старым</a:t>
            </a:r>
          </a:p>
          <a:p>
            <a:pPr lvl="1"/>
            <a:r>
              <a:rPr lang="ru-RU" dirty="0"/>
              <a:t>Направляем 1-5-10-50-100% трафика</a:t>
            </a:r>
          </a:p>
          <a:p>
            <a:r>
              <a:rPr lang="ru-RU" b="1" dirty="0"/>
              <a:t>Step 5: Отключение легаси</a:t>
            </a:r>
            <a:endParaRPr lang="ru-RU" dirty="0"/>
          </a:p>
          <a:p>
            <a:pPr lvl="1"/>
            <a:r>
              <a:rPr lang="ru-RU" dirty="0"/>
              <a:t>Убеждаемся в стабильности</a:t>
            </a:r>
          </a:p>
          <a:p>
            <a:pPr lvl="1"/>
            <a:r>
              <a:rPr lang="ru-RU" dirty="0"/>
              <a:t>Удаляем старый код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70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A37F0-E3FF-8403-BB29-35CC14EF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Risk analysis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C09E93-C125-944C-DEC0-680D4FE28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44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B25C-29EA-2329-AEF7-8657306D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DD1B4-CE64-84BF-8E6B-765A607C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Metrics for success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68F6C4-4698-1E60-32CF-B2E6CE0BB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Технические метрики:</a:t>
            </a:r>
          </a:p>
          <a:p>
            <a:pPr lvl="1"/>
            <a:r>
              <a:rPr lang="ru-RU" dirty="0" err="1"/>
              <a:t>Latency</a:t>
            </a:r>
            <a:r>
              <a:rPr lang="ru-RU" dirty="0"/>
              <a:t> (p95, p99): снижение времени ответа на 50-80%</a:t>
            </a:r>
          </a:p>
          <a:p>
            <a:pPr lvl="1"/>
            <a:r>
              <a:rPr lang="ru-RU" dirty="0"/>
              <a:t>CPU/Memory </a:t>
            </a:r>
            <a:r>
              <a:rPr lang="ru-RU" dirty="0" err="1"/>
              <a:t>usage</a:t>
            </a:r>
            <a:r>
              <a:rPr lang="ru-RU" dirty="0"/>
              <a:t>: снижение потребления ресурсов на 30-60%</a:t>
            </a:r>
          </a:p>
          <a:p>
            <a:pPr lvl="1"/>
            <a:r>
              <a:rPr lang="ru-RU" dirty="0" err="1"/>
              <a:t>Error</a:t>
            </a:r>
            <a:r>
              <a:rPr lang="ru-RU" dirty="0"/>
              <a:t> </a:t>
            </a:r>
            <a:r>
              <a:rPr lang="ru-RU" dirty="0" err="1"/>
              <a:t>rate</a:t>
            </a:r>
            <a:r>
              <a:rPr lang="ru-RU" dirty="0"/>
              <a:t>: не выше, чем у старой системы (или ниже)</a:t>
            </a:r>
          </a:p>
          <a:p>
            <a:r>
              <a:rPr lang="ru-RU" dirty="0"/>
              <a:t>Бизнес-метрики:</a:t>
            </a:r>
          </a:p>
          <a:p>
            <a:pPr lvl="1"/>
            <a:r>
              <a:rPr lang="ru-RU" dirty="0"/>
              <a:t>Time-</a:t>
            </a:r>
            <a:r>
              <a:rPr lang="ru-RU" dirty="0" err="1"/>
              <a:t>to</a:t>
            </a:r>
            <a:r>
              <a:rPr lang="ru-RU" dirty="0"/>
              <a:t>-</a:t>
            </a:r>
            <a:r>
              <a:rPr lang="ru-RU" dirty="0" err="1"/>
              <a:t>market</a:t>
            </a:r>
            <a:r>
              <a:rPr lang="ru-RU" dirty="0"/>
              <a:t>: скорость вывода новых фич после миграции</a:t>
            </a:r>
          </a:p>
          <a:p>
            <a:pPr lvl="1"/>
            <a:r>
              <a:rPr lang="ru-RU" dirty="0"/>
              <a:t>MTTR: время восстановления после сбоев</a:t>
            </a:r>
          </a:p>
          <a:p>
            <a:pPr lvl="1"/>
            <a:r>
              <a:rPr lang="ru-RU" dirty="0"/>
              <a:t>Размер команды: возможность обрабатывать ту же нагрузку меньшим числом разработчиков</a:t>
            </a:r>
          </a:p>
          <a:p>
            <a:r>
              <a:rPr lang="ru-RU" dirty="0"/>
              <a:t>Метрики внедрения:</a:t>
            </a:r>
          </a:p>
          <a:p>
            <a:pPr lvl="1"/>
            <a:r>
              <a:rPr lang="ru-RU" dirty="0"/>
              <a:t>Количество модулей, переведенных по методичке</a:t>
            </a:r>
          </a:p>
          <a:p>
            <a:pPr lvl="1"/>
            <a:r>
              <a:rPr lang="ru-RU" dirty="0"/>
              <a:t>Время от старта до первого продакшн-релиза (Target: &lt; 2 недель)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6430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A87AC-2622-10B4-DC80-549C2144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Budget and allocation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7CC37B-15CC-079B-7FDC-20444C83C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Разработка методических материалов:</a:t>
            </a:r>
          </a:p>
          <a:p>
            <a:pPr lvl="1"/>
            <a:r>
              <a:rPr lang="ru-RU" dirty="0"/>
              <a:t>Аналитика и исследование: 40 часов</a:t>
            </a:r>
          </a:p>
          <a:p>
            <a:pPr lvl="1"/>
            <a:r>
              <a:rPr lang="ru-RU" dirty="0"/>
              <a:t>Написание документации: 60 часов</a:t>
            </a:r>
          </a:p>
          <a:p>
            <a:pPr lvl="1"/>
            <a:r>
              <a:rPr lang="ru-RU" dirty="0"/>
              <a:t>Создание шаблонов и примеров: 50 часов</a:t>
            </a:r>
          </a:p>
          <a:p>
            <a:r>
              <a:rPr lang="ru-RU" dirty="0"/>
              <a:t>Пилотный запуск:</a:t>
            </a:r>
          </a:p>
          <a:p>
            <a:pPr lvl="1"/>
            <a:r>
              <a:rPr lang="ru-RU" dirty="0"/>
              <a:t>Вовлечение 2-3 компаний-партнеров для тестирования</a:t>
            </a:r>
          </a:p>
          <a:p>
            <a:pPr lvl="1"/>
            <a:r>
              <a:rPr lang="ru-RU" dirty="0"/>
              <a:t>Техническая поддержка пилотов: 20 часов/неделя</a:t>
            </a:r>
          </a:p>
          <a:p>
            <a:r>
              <a:rPr lang="ru-RU" dirty="0"/>
              <a:t>Маркетинг и продвижение:</a:t>
            </a:r>
          </a:p>
          <a:p>
            <a:pPr lvl="1"/>
            <a:r>
              <a:rPr lang="ru-RU" dirty="0"/>
              <a:t>Создание лендинга и посадочных страниц</a:t>
            </a:r>
          </a:p>
          <a:p>
            <a:pPr lvl="1"/>
            <a:r>
              <a:rPr lang="ru-RU" dirty="0"/>
              <a:t>Вебинары и митапы по миграции на Go</a:t>
            </a:r>
          </a:p>
          <a:p>
            <a:pPr lvl="1"/>
            <a:r>
              <a:rPr lang="ru-RU" dirty="0"/>
              <a:t>Публикации на </a:t>
            </a:r>
            <a:r>
              <a:rPr lang="ru-RU" dirty="0" err="1"/>
              <a:t>Habr</a:t>
            </a:r>
            <a:r>
              <a:rPr lang="ru-RU" dirty="0"/>
              <a:t> и в профильных Telegram-каналах</a:t>
            </a:r>
          </a:p>
          <a:p>
            <a:pPr marL="0" indent="0">
              <a:buNone/>
            </a:pPr>
            <a:r>
              <a:rPr lang="ru-RU" dirty="0"/>
              <a:t>Итого: 3 месяца на MVP, команда 2-3 человека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49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CD341-3121-F936-238B-214EB86B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DBAE3-B4F6-C4B6-0226-D900BB02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Юридические и этические аспекты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734B09-F083-77DA-4199-F1C576385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Технические стандарты:</a:t>
            </a:r>
            <a:endParaRPr lang="ru-RU" dirty="0"/>
          </a:p>
          <a:p>
            <a:pPr lvl="1"/>
            <a:r>
              <a:rPr lang="ru-RU" dirty="0"/>
              <a:t>Следование идиомам Go (</a:t>
            </a:r>
            <a:r>
              <a:rPr lang="ru-RU" dirty="0" err="1"/>
              <a:t>Effective</a:t>
            </a:r>
            <a:r>
              <a:rPr lang="ru-RU" dirty="0"/>
              <a:t> Go, Go Code Review </a:t>
            </a:r>
            <a:r>
              <a:rPr lang="ru-RU" dirty="0" err="1"/>
              <a:t>Comments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Поддержка LTS-версий Go (последние 2 стабильные версии)</a:t>
            </a:r>
          </a:p>
          <a:p>
            <a:r>
              <a:rPr lang="ru-RU" b="1" dirty="0"/>
              <a:t>Безопасность:</a:t>
            </a:r>
            <a:endParaRPr lang="ru-RU" dirty="0"/>
          </a:p>
          <a:p>
            <a:pPr lvl="1"/>
            <a:r>
              <a:rPr lang="ru-RU" dirty="0"/>
              <a:t>Рекомендации по безопасной работе с памятью</a:t>
            </a:r>
          </a:p>
          <a:p>
            <a:pPr lvl="1"/>
            <a:r>
              <a:rPr lang="ru-RU" dirty="0"/>
              <a:t>Интеграция с SAST/DAST инструментами в CI/CD</a:t>
            </a:r>
          </a:p>
          <a:p>
            <a:r>
              <a:rPr lang="ru-RU" b="1" dirty="0"/>
              <a:t>Этика и авторские права:</a:t>
            </a:r>
            <a:endParaRPr lang="ru-RU" dirty="0"/>
          </a:p>
          <a:p>
            <a:pPr lvl="1"/>
            <a:r>
              <a:rPr lang="ru-RU" dirty="0"/>
              <a:t>Все материалы распространяются под лицензией MIT (свободное использование)</a:t>
            </a:r>
          </a:p>
          <a:p>
            <a:pPr lvl="1"/>
            <a:r>
              <a:rPr lang="ru-RU" dirty="0"/>
              <a:t>Примеры кода не содержат проприетарных фрагментов заказчиков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6624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53782-46D0-16EF-386D-7EADB25F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CBC69-16FA-0FB6-9458-C7CB28196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Контакты: </a:t>
            </a:r>
            <a:r>
              <a:rPr lang="en-US" dirty="0"/>
              <a:t>telegram -</a:t>
            </a:r>
            <a:r>
              <a:rPr lang="en-US" dirty="0">
                <a:sym typeface="Wingdings" panose="05000000000000000000" pitchFamily="2" charset="2"/>
              </a:rPr>
              <a:t>-&gt; @reloadedie</a:t>
            </a:r>
          </a:p>
          <a:p>
            <a:r>
              <a:rPr lang="en-US" dirty="0" err="1">
                <a:sym typeface="Wingdings" panose="05000000000000000000" pitchFamily="2" charset="2"/>
              </a:rPr>
              <a:t>Github</a:t>
            </a:r>
            <a:r>
              <a:rPr lang="en-US">
                <a:sym typeface="Wingdings" panose="05000000000000000000" pitchFamily="2" charset="2"/>
              </a:rPr>
              <a:t>: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7641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873</Words>
  <Application>Microsoft Office PowerPoint</Application>
  <PresentationFormat>Широкоэкранный</PresentationFormat>
  <Paragraphs>119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Тема Office</vt:lpstr>
      <vt:lpstr>GoTransition Kit: Быстрая миграция программных модулей на Golang </vt:lpstr>
      <vt:lpstr>GoTransition Kit</vt:lpstr>
      <vt:lpstr>Executive summary (Краткий обзор)</vt:lpstr>
      <vt:lpstr>Problem statement </vt:lpstr>
      <vt:lpstr>Target market</vt:lpstr>
      <vt:lpstr>Buyer personas</vt:lpstr>
      <vt:lpstr>Business objectives</vt:lpstr>
      <vt:lpstr>Competitor analysis</vt:lpstr>
      <vt:lpstr>Product overview</vt:lpstr>
      <vt:lpstr>How it works</vt:lpstr>
      <vt:lpstr>Risk analysis</vt:lpstr>
      <vt:lpstr>Metrics for success</vt:lpstr>
      <vt:lpstr>Budget and allocation</vt:lpstr>
      <vt:lpstr>Юридические и этические аспекты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Кирилл Кротов</dc:creator>
  <cp:lastModifiedBy>Кирилл Кротов</cp:lastModifiedBy>
  <cp:revision>71</cp:revision>
  <dcterms:created xsi:type="dcterms:W3CDTF">2026-02-21T00:42:42Z</dcterms:created>
  <dcterms:modified xsi:type="dcterms:W3CDTF">2026-02-21T01:26:00Z</dcterms:modified>
</cp:coreProperties>
</file>